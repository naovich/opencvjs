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1"/>
  </p:normalViewPr>
  <p:slideViewPr>
    <p:cSldViewPr snapToGrid="0" snapToObjects="1">
      <p:cViewPr varScale="1">
        <p:scale>
          <a:sx n="116" d="100"/>
          <a:sy n="116" d="100"/>
        </p:scale>
        <p:origin x="142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Amélioration de la capture de photos de cartes d’identité et passeports en environnement web</a:t>
            </a:r>
          </a:p>
        </p:txBody>
      </p:sp>
      <p:sp>
        <p:nvSpPr>
          <p:cNvPr id="3" name="Subtitle 2"/>
          <p:cNvSpPr>
            <a:spLocks noGrp="1"/>
          </p:cNvSpPr>
          <p:nvPr>
            <p:ph type="subTitle" idx="1"/>
          </p:nvPr>
        </p:nvSpPr>
        <p:spPr/>
        <p:txBody>
          <a:bodyPr/>
          <a:lstStyle/>
          <a:p>
            <a:r>
              <a:t>Optimisation de la qualité d’image pour un traitement backend performant</a:t>
            </a:r>
          </a:p>
          <a:p>
            <a:r>
              <a:t>Nom du présentateur - 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Contexte et Objectifs</a:t>
            </a:r>
          </a:p>
        </p:txBody>
      </p:sp>
      <p:sp>
        <p:nvSpPr>
          <p:cNvPr id="3" name="Content Placeholder 2"/>
          <p:cNvSpPr>
            <a:spLocks noGrp="1"/>
          </p:cNvSpPr>
          <p:nvPr>
            <p:ph idx="1"/>
          </p:nvPr>
        </p:nvSpPr>
        <p:spPr/>
        <p:txBody>
          <a:bodyPr/>
          <a:lstStyle/>
          <a:p>
            <a:r>
              <a:t>Nous souhaitons améliorer la capture des photos de documents d’identité afin d’obtenir des images nettes, correctement cadrées et bien exposées. L’objectif est de réduire le nombre de clichés inutilisables et d’optimiser le traitement automatique en backend.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Problématique Actuelle</a:t>
            </a:r>
          </a:p>
        </p:txBody>
      </p:sp>
      <p:sp>
        <p:nvSpPr>
          <p:cNvPr id="3" name="Content Placeholder 2"/>
          <p:cNvSpPr>
            <a:spLocks noGrp="1"/>
          </p:cNvSpPr>
          <p:nvPr>
            <p:ph idx="1"/>
          </p:nvPr>
        </p:nvSpPr>
        <p:spPr/>
        <p:txBody>
          <a:bodyPr/>
          <a:lstStyle/>
          <a:p>
            <a:r>
              <a:t>Les utilisateurs prennent souvent des photos floues, mal cadrées ou présentant des problèmes d'exposition (images trop sombres ou surexposées). Ces erreurs rendent difficile l’extraction automatique des informations nécessaires au traitement des documents.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Comparatif des Solutions</a:t>
            </a:r>
          </a:p>
        </p:txBody>
      </p:sp>
      <p:sp>
        <p:nvSpPr>
          <p:cNvPr id="3" name="Content Placeholder 2"/>
          <p:cNvSpPr>
            <a:spLocks noGrp="1"/>
          </p:cNvSpPr>
          <p:nvPr>
            <p:ph idx="1"/>
          </p:nvPr>
        </p:nvSpPr>
        <p:spPr/>
        <p:txBody>
          <a:bodyPr/>
          <a:lstStyle/>
          <a:p>
            <a:r>
              <a:t>Trois approches ont été évaluées :</a:t>
            </a:r>
          </a:p>
          <a:p>
            <a:r>
              <a:t>• Approches simples avec repères visuels</a:t>
            </a:r>
          </a:p>
          <a:p>
            <a:r>
              <a:t>• Méthodes basées sur des réseaux de neurones (TensorFlow/coco-ssd)</a:t>
            </a:r>
          </a:p>
          <a:p>
            <a:r>
              <a:t>• Utilisation d’OpenCV.js pour un traitement d’image avancé</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Approches Simples</a:t>
            </a:r>
          </a:p>
        </p:txBody>
      </p:sp>
      <p:sp>
        <p:nvSpPr>
          <p:cNvPr id="3" name="Content Placeholder 2"/>
          <p:cNvSpPr>
            <a:spLocks noGrp="1"/>
          </p:cNvSpPr>
          <p:nvPr>
            <p:ph idx="1"/>
          </p:nvPr>
        </p:nvSpPr>
        <p:spPr/>
        <p:txBody>
          <a:bodyPr/>
          <a:lstStyle/>
          <a:p>
            <a:r>
              <a:t>Affichage de repères visuels tels que des lignes et cadres sur l’écran pour guider l’utilisateur. Utilisation de l’API Canvas et de JavaScript pour des traitements de base comme la comparaison pixel par pixel et la détection rudimentaire de contours.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Méthodes par Réseaux de Neurones</a:t>
            </a:r>
          </a:p>
        </p:txBody>
      </p:sp>
      <p:sp>
        <p:nvSpPr>
          <p:cNvPr id="3" name="Content Placeholder 2"/>
          <p:cNvSpPr>
            <a:spLocks noGrp="1"/>
          </p:cNvSpPr>
          <p:nvPr>
            <p:ph idx="1"/>
          </p:nvPr>
        </p:nvSpPr>
        <p:spPr/>
        <p:txBody>
          <a:bodyPr/>
          <a:lstStyle/>
          <a:p>
            <a:r>
              <a:t>Implémentation de TensorFlow/coco-ssd pour la détection d’objets généraux. Cette solution permet de repérer le visage, mais requiert un entraînement supplémentaire pour une détection précise des documents d’identité et passeports.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OpenCV.js pour le Traitement d’Images</a:t>
            </a:r>
          </a:p>
        </p:txBody>
      </p:sp>
      <p:sp>
        <p:nvSpPr>
          <p:cNvPr id="3" name="Content Placeholder 2"/>
          <p:cNvSpPr>
            <a:spLocks noGrp="1"/>
          </p:cNvSpPr>
          <p:nvPr>
            <p:ph idx="1"/>
          </p:nvPr>
        </p:nvSpPr>
        <p:spPr/>
        <p:txBody>
          <a:bodyPr/>
          <a:lstStyle/>
          <a:p>
            <a:r>
              <a:t>OpenCV.js exploite WebAssembly pour offrir des performances en temps réel. Ses fonctions de détection de contours et l’utilisation des classifieurs Haar Cascade permettent une identification robuste des visages et des documents, même dans des conditions difficiles.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Stratégies de Détection de la Carte</a:t>
            </a:r>
          </a:p>
        </p:txBody>
      </p:sp>
      <p:sp>
        <p:nvSpPr>
          <p:cNvPr id="3" name="Content Placeholder 2"/>
          <p:cNvSpPr>
            <a:spLocks noGrp="1"/>
          </p:cNvSpPr>
          <p:nvPr>
            <p:ph idx="1"/>
          </p:nvPr>
        </p:nvSpPr>
        <p:spPr/>
        <p:txBody>
          <a:bodyPr/>
          <a:lstStyle/>
          <a:p>
            <a:r>
              <a:t>Deux stratégies principales sont mises en œuvre :</a:t>
            </a:r>
          </a:p>
          <a:p>
            <a:r>
              <a:t>1. Détection par contours : Utilisation de l’algorithme Canny pour extraire les bords du document.</a:t>
            </a:r>
          </a:p>
          <a:p>
            <a:r>
              <a:t>2. Détection par classification d’objets : Repérage du visage et des yeux via Haar Cascade pour valider la présence d’un document d’identité.</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Détection par Contours</a:t>
            </a:r>
          </a:p>
        </p:txBody>
      </p:sp>
      <p:sp>
        <p:nvSpPr>
          <p:cNvPr id="3" name="Content Placeholder 2"/>
          <p:cNvSpPr>
            <a:spLocks noGrp="1"/>
          </p:cNvSpPr>
          <p:nvPr>
            <p:ph idx="1"/>
          </p:nvPr>
        </p:nvSpPr>
        <p:spPr/>
        <p:txBody>
          <a:bodyPr/>
          <a:lstStyle/>
          <a:p>
            <a:r>
              <a:t>Prétraitement de l’image pour accentuer les bords. Application de l’algorithme Canny pour identifier les contours pertinents, permettant ainsi de localiser et d’orienter la carte d’identité dans le cadre de l’image.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Détection par Classification d’Objets</a:t>
            </a:r>
          </a:p>
        </p:txBody>
      </p:sp>
      <p:sp>
        <p:nvSpPr>
          <p:cNvPr id="3" name="Content Placeholder 2"/>
          <p:cNvSpPr>
            <a:spLocks noGrp="1"/>
          </p:cNvSpPr>
          <p:nvPr>
            <p:ph idx="1"/>
          </p:nvPr>
        </p:nvSpPr>
        <p:spPr/>
        <p:txBody>
          <a:bodyPr/>
          <a:lstStyle/>
          <a:p>
            <a:r>
              <a:t>Utilisation des classifieurs Haar Cascade pour détecter le visage et localiser la photo d’identité. Cette méthode permet de confirmer l’authenticité du document et d’ajuster précisément le cadrage en fonction de la position des yeux.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Stabilisation de la Détection</a:t>
            </a:r>
          </a:p>
        </p:txBody>
      </p:sp>
      <p:sp>
        <p:nvSpPr>
          <p:cNvPr id="3" name="Content Placeholder 2"/>
          <p:cNvSpPr>
            <a:spLocks noGrp="1"/>
          </p:cNvSpPr>
          <p:nvPr>
            <p:ph idx="1"/>
          </p:nvPr>
        </p:nvSpPr>
        <p:spPr/>
        <p:txBody>
          <a:bodyPr/>
          <a:lstStyle/>
          <a:p>
            <a:r>
              <a:t>Mise en place d’un algorithme de stabilisation permettant de lisser les variations de détection sur plusieurs images. Utilisation d’un buffer pour accumuler les coordonnées détectées et filtrer les valeurs aberrantes, garantissant ainsi une zone de détection stable.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Extrapolation de la Zone de la Carte</a:t>
            </a:r>
          </a:p>
        </p:txBody>
      </p:sp>
      <p:sp>
        <p:nvSpPr>
          <p:cNvPr id="3" name="Content Placeholder 2"/>
          <p:cNvSpPr>
            <a:spLocks noGrp="1"/>
          </p:cNvSpPr>
          <p:nvPr>
            <p:ph idx="1"/>
          </p:nvPr>
        </p:nvSpPr>
        <p:spPr/>
        <p:txBody>
          <a:bodyPr/>
          <a:lstStyle/>
          <a:p>
            <a:r>
              <a:t>Utilisation du visage comme repère pour définir la zone théorique de la carte. Le rapport entre la taille de la photo d’identité et celle de la carte est utilisé pour ajuster dynamiquement le cadrage en fonction des mouvements de l’utilisateur.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Contrôle de la Qualité de la Capture</a:t>
            </a:r>
          </a:p>
        </p:txBody>
      </p:sp>
      <p:sp>
        <p:nvSpPr>
          <p:cNvPr id="3" name="Content Placeholder 2"/>
          <p:cNvSpPr>
            <a:spLocks noGrp="1"/>
          </p:cNvSpPr>
          <p:nvPr>
            <p:ph idx="1"/>
          </p:nvPr>
        </p:nvSpPr>
        <p:spPr/>
        <p:txBody>
          <a:bodyPr/>
          <a:lstStyle/>
          <a:p>
            <a:r>
              <a:t>Analyse continue de la qualité d’image via deux indicateurs principaux :</a:t>
            </a:r>
          </a:p>
          <a:p>
            <a:r>
              <a:t>• Luminosité : Calcul de la moyenne des niveaux de gris pour vérifier l’exposition.</a:t>
            </a:r>
          </a:p>
          <a:p>
            <a:r>
              <a:t>• Netteté : Utilisation de l’opérateur Laplacien pour mesurer la variance et détecter le flou. Seuls les clichés répondant aux seuils définis sont validés.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Critères de Validation de la Prise de Photo</a:t>
            </a:r>
          </a:p>
        </p:txBody>
      </p:sp>
      <p:sp>
        <p:nvSpPr>
          <p:cNvPr id="3" name="Content Placeholder 2"/>
          <p:cNvSpPr>
            <a:spLocks noGrp="1"/>
          </p:cNvSpPr>
          <p:nvPr>
            <p:ph idx="1"/>
          </p:nvPr>
        </p:nvSpPr>
        <p:spPr/>
        <p:txBody>
          <a:bodyPr/>
          <a:lstStyle/>
          <a:p>
            <a:r>
              <a:t>Pour qu’une capture soit validée, les critères suivants doivent être respectés :</a:t>
            </a:r>
          </a:p>
          <a:p>
            <a:r>
              <a:t>• Détection obligatoire du visage et de la carte</a:t>
            </a:r>
          </a:p>
          <a:p>
            <a:r>
              <a:t>• Angle d’inclinaison acceptable (entre ±3° et ±5°)</a:t>
            </a:r>
          </a:p>
          <a:p>
            <a:r>
              <a:t>• Respect du cadrage et de la distance minimale</a:t>
            </a:r>
          </a:p>
          <a:p>
            <a:r>
              <a:t>• Seuils de luminosité et de netteté atteints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La solution proposée combine guidage en temps réel et contrôle qualité avancé, permettant ainsi de réduire les erreurs de capture. L’approche hybride – utilisant repères visuels, réseaux de neurones et OpenCV.js – offre robustesse et flexibilité pour un traitement backend optimisé.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668</Words>
  <Application>Microsoft Macintosh PowerPoint</Application>
  <PresentationFormat>On-screen Show (4:3)</PresentationFormat>
  <Paragraphs>42</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Amélioration de la capture de photos de cartes d’identité et passeports en environnement web</vt:lpstr>
      <vt:lpstr>Contexte et Objectifs</vt:lpstr>
      <vt:lpstr>Problématique Actuelle</vt:lpstr>
      <vt:lpstr>Comparatif des Solutions</vt:lpstr>
      <vt:lpstr>Approches Simples</vt:lpstr>
      <vt:lpstr>Méthodes par Réseaux de Neurones</vt:lpstr>
      <vt:lpstr>OpenCV.js pour le Traitement d’Images</vt:lpstr>
      <vt:lpstr>Stratégies de Détection de la Carte</vt:lpstr>
      <vt:lpstr>Détection par Contours</vt:lpstr>
      <vt:lpstr>Détection par Classification d’Objets</vt:lpstr>
      <vt:lpstr>Stabilisation de la Détection</vt:lpstr>
      <vt:lpstr>Extrapolation de la Zone de la Carte</vt:lpstr>
      <vt:lpstr>Contrôle de la Qualité de la Capture</vt:lpstr>
      <vt:lpstr>Critères de Validation de la Prise de Photo</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Nadhoir Attoumani</cp:lastModifiedBy>
  <cp:revision>2</cp:revision>
  <dcterms:created xsi:type="dcterms:W3CDTF">2013-01-27T09:14:16Z</dcterms:created>
  <dcterms:modified xsi:type="dcterms:W3CDTF">2025-03-04T15:01:27Z</dcterms:modified>
  <cp:category/>
</cp:coreProperties>
</file>